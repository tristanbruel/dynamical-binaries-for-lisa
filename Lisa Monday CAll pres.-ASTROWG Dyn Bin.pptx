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Sara Rastello"/>
  <p:cmAuthor clrIdx="1" id="1" initials="" lastIdx="1" name="Cristiano Ugolin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7D7640-15E8-49A4-AF1C-6FB6661587E9}">
  <a:tblStyle styleId="{B97D7640-15E8-49A4-AF1C-6FB6661587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02T14:45:53.007">
    <p:pos x="6000" y="0"/>
    <p:text>I am just writing a sort of skeleton but please fell free to corrretc/change etc</p:text>
  </p:cm>
  <p:cm authorId="0" idx="2" dt="2026-07-02T14:39:07.409">
    <p:pos x="6000" y="0"/>
    <p:text>the idea is to remove this slide, it is only for us now</p:text>
  </p:cm>
  <p:cm authorId="1" idx="1" dt="2026-07-02T14:45:53.007">
    <p:pos x="6000" y="0"/>
    <p:text>perfect, thanks!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e68f1a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e68f1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4099b8c72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4099b8c72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9b8c72c6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9b8c72c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4099b8c72c6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4099b8c72c6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e68f1ad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e68f1ad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e68f1ad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e68f1ad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e68f1ad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e68f1ad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0e68f1ad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0e68f1ad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ca68f0f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ca68f0f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hyperlink" Target="mailto:astro-wg-2025-07@lisamission.org" TargetMode="External"/><Relationship Id="rId5" Type="http://schemas.openxmlformats.org/officeDocument/2006/relationships/hyperlink" Target="https://forms.gle/VGyGs42UFFA385XH9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172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/>
              <a:t>Dynamical</a:t>
            </a:r>
            <a:r>
              <a:rPr b="1" lang="en" sz="5000"/>
              <a:t> binaries in the Galaxy and Local Volume</a:t>
            </a:r>
            <a:endParaRPr b="1" sz="5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Coordinators: </a:t>
            </a:r>
            <a:r>
              <a:rPr b="1" lang="en">
                <a:solidFill>
                  <a:schemeClr val="dk1"/>
                </a:solidFill>
              </a:rPr>
              <a:t>Manuel Arca Sedda, Tristan Bruel, Sara Rastello, Cristiano Ugolini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00" y="4356125"/>
            <a:ext cx="111442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857725" y="2522900"/>
            <a:ext cx="3286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</a:t>
            </a:r>
            <a:r>
              <a:rPr lang="en" sz="1200">
                <a:solidFill>
                  <a:schemeClr val="dk1"/>
                </a:solidFill>
              </a:rPr>
              <a:t>efine a common ground to perform a fair comparison among the simulations, and define a set of “standards”  for new LISA-aimed projects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Combine the simulated data with models of Milky Way to create mock catalogues of sources.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7597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Project description</a:t>
            </a:r>
            <a:endParaRPr b="1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30197" l="62496" r="0" t="4725"/>
          <a:stretch/>
        </p:blipFill>
        <p:spPr>
          <a:xfrm>
            <a:off x="225188" y="1392810"/>
            <a:ext cx="1985927" cy="160121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 rot="-2869205">
            <a:off x="348417" y="1815235"/>
            <a:ext cx="616566" cy="13379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" y="3159750"/>
            <a:ext cx="243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What</a:t>
            </a:r>
            <a:r>
              <a:rPr lang="en" sz="1200">
                <a:solidFill>
                  <a:schemeClr val="dk1"/>
                </a:solidFill>
              </a:rPr>
              <a:t> are the properties of </a:t>
            </a:r>
            <a:r>
              <a:rPr b="1" lang="en" sz="1200">
                <a:solidFill>
                  <a:schemeClr val="dk1"/>
                </a:solidFill>
              </a:rPr>
              <a:t>dynamically assembled </a:t>
            </a:r>
            <a:r>
              <a:rPr lang="en" sz="1200">
                <a:solidFill>
                  <a:schemeClr val="dk1"/>
                </a:solidFill>
              </a:rPr>
              <a:t>binaries in star clusters in the </a:t>
            </a:r>
            <a:r>
              <a:rPr b="1" lang="en" sz="1200">
                <a:solidFill>
                  <a:schemeClr val="dk1"/>
                </a:solidFill>
              </a:rPr>
              <a:t>Milky Way </a:t>
            </a:r>
            <a:r>
              <a:rPr lang="en" sz="1200">
                <a:solidFill>
                  <a:schemeClr val="dk1"/>
                </a:solidFill>
              </a:rPr>
              <a:t>and its </a:t>
            </a:r>
            <a:r>
              <a:rPr b="1" lang="en" sz="1200">
                <a:solidFill>
                  <a:schemeClr val="dk1"/>
                </a:solidFill>
              </a:rPr>
              <a:t>neighbourhood</a:t>
            </a:r>
            <a:r>
              <a:rPr lang="en" sz="1200">
                <a:solidFill>
                  <a:schemeClr val="dk1"/>
                </a:solidFill>
              </a:rPr>
              <a:t>?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0" y="996213"/>
            <a:ext cx="16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Courtesy of L. Paiella</a:t>
            </a:r>
            <a:endParaRPr sz="800">
              <a:solidFill>
                <a:schemeClr val="dk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23864" l="0" r="0" t="6029"/>
          <a:stretch/>
        </p:blipFill>
        <p:spPr>
          <a:xfrm rot="5400000">
            <a:off x="4071825" y="200475"/>
            <a:ext cx="1767476" cy="1804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0" y="4536900"/>
            <a:ext cx="908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Assess the properties of </a:t>
            </a:r>
            <a:r>
              <a:rPr b="1" lang="en" sz="1200">
                <a:solidFill>
                  <a:schemeClr val="dk1"/>
                </a:solidFill>
              </a:rPr>
              <a:t>compact binaries</a:t>
            </a:r>
            <a:r>
              <a:rPr lang="en" sz="1200">
                <a:solidFill>
                  <a:schemeClr val="dk1"/>
                </a:solidFill>
              </a:rPr>
              <a:t> (black holes, neutron stars, and white dwarfs) formed in </a:t>
            </a:r>
            <a:r>
              <a:rPr b="1" lang="en" sz="1200">
                <a:solidFill>
                  <a:schemeClr val="dk1"/>
                </a:solidFill>
              </a:rPr>
              <a:t>young</a:t>
            </a:r>
            <a:r>
              <a:rPr lang="en" sz="1200">
                <a:solidFill>
                  <a:schemeClr val="dk1"/>
                </a:solidFill>
              </a:rPr>
              <a:t>, </a:t>
            </a:r>
            <a:r>
              <a:rPr b="1" lang="en" sz="1200">
                <a:solidFill>
                  <a:schemeClr val="dk1"/>
                </a:solidFill>
              </a:rPr>
              <a:t>massive</a:t>
            </a:r>
            <a:r>
              <a:rPr lang="en" sz="1200">
                <a:solidFill>
                  <a:schemeClr val="dk1"/>
                </a:solidFill>
              </a:rPr>
              <a:t>, and </a:t>
            </a:r>
            <a:r>
              <a:rPr b="1" lang="en" sz="1200">
                <a:solidFill>
                  <a:schemeClr val="dk1"/>
                </a:solidFill>
              </a:rPr>
              <a:t>globular clusters </a:t>
            </a:r>
            <a:r>
              <a:rPr lang="en" sz="1200">
                <a:solidFill>
                  <a:schemeClr val="dk1"/>
                </a:solidFill>
              </a:rPr>
              <a:t>in the </a:t>
            </a:r>
            <a:r>
              <a:rPr b="1" lang="en" sz="1200">
                <a:solidFill>
                  <a:schemeClr val="dk1"/>
                </a:solidFill>
              </a:rPr>
              <a:t>Local Volume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5">
            <a:alphaModFix/>
          </a:blip>
          <a:srcRect b="36263" l="0" r="0" t="19050"/>
          <a:stretch/>
        </p:blipFill>
        <p:spPr>
          <a:xfrm>
            <a:off x="3737355" y="2826962"/>
            <a:ext cx="2436421" cy="15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2308800" y="1902750"/>
            <a:ext cx="1268700" cy="669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1905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4632625" y="2240503"/>
            <a:ext cx="645900" cy="554100"/>
          </a:xfrm>
          <a:prstGeom prst="mathPlus">
            <a:avLst>
              <a:gd fmla="val 23520" name="adj1"/>
            </a:avLst>
          </a:prstGeom>
          <a:solidFill>
            <a:srgbClr val="6D9EEB"/>
          </a:solidFill>
          <a:ln cap="flat" cmpd="sng" w="1905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5857725" y="510700"/>
            <a:ext cx="32862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ather </a:t>
            </a:r>
            <a:r>
              <a:rPr b="1" lang="en" sz="1200">
                <a:solidFill>
                  <a:schemeClr val="dk1"/>
                </a:solidFill>
              </a:rPr>
              <a:t>existing </a:t>
            </a:r>
            <a:r>
              <a:rPr lang="en" sz="1200">
                <a:solidFill>
                  <a:schemeClr val="dk1"/>
                </a:solidFill>
              </a:rPr>
              <a:t>numerical simulations of star clusters (N-body, Monte Carlo, semi-analytic)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Catalogue of </a:t>
            </a:r>
            <a:r>
              <a:rPr b="1" lang="en" sz="1200">
                <a:solidFill>
                  <a:schemeClr val="dk1"/>
                </a:solidFill>
              </a:rPr>
              <a:t>all </a:t>
            </a:r>
            <a:r>
              <a:rPr lang="en" sz="1200">
                <a:solidFill>
                  <a:schemeClr val="dk1"/>
                </a:solidFill>
              </a:rPr>
              <a:t>compact binaries, including also intermediate-mass black holes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3070063" y="2994025"/>
            <a:ext cx="16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Courtesy of B. Mestichelli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outline: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26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want to do and Why: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we want to do it: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is the status: </a:t>
            </a:r>
            <a:r>
              <a:rPr lang="en"/>
              <a:t>statistics</a:t>
            </a:r>
            <a:r>
              <a:rPr lang="en"/>
              <a:t> on the group, plots (Abbas, Sambaran, Tristan, Sara, etc)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active sub-groups: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(1) homogeneous comparison of simulations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(2) MW model for LISA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Status: the group &amp; the data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JULY: gathering data from WG collabo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295100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LISA and the Consortium need the project</a:t>
            </a:r>
            <a:endParaRPr b="1"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542700" y="1573538"/>
            <a:ext cx="5289600" cy="15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4"/>
                </a:solidFill>
                <a:highlight>
                  <a:srgbClr val="FFFFFF"/>
                </a:highlight>
              </a:rPr>
              <a:t>We have </a:t>
            </a:r>
            <a:r>
              <a:rPr b="1" lang="en" sz="1200">
                <a:solidFill>
                  <a:srgbClr val="202124"/>
                </a:solidFill>
                <a:highlight>
                  <a:srgbClr val="FFFFFF"/>
                </a:highlight>
              </a:rPr>
              <a:t>&gt;1600 members </a:t>
            </a:r>
            <a:r>
              <a:rPr lang="en" sz="1200">
                <a:solidFill>
                  <a:srgbClr val="202124"/>
                </a:solidFill>
                <a:highlight>
                  <a:srgbClr val="FFFFFF"/>
                </a:highlight>
              </a:rPr>
              <a:t>in LISA Consortium with expertise in all the topics related to this project. This offers </a:t>
            </a:r>
            <a:r>
              <a:rPr b="1" lang="en" sz="1200">
                <a:solidFill>
                  <a:srgbClr val="202124"/>
                </a:solidFill>
                <a:highlight>
                  <a:srgbClr val="FFFFFF"/>
                </a:highlight>
              </a:rPr>
              <a:t>a unique opportunity </a:t>
            </a:r>
            <a:r>
              <a:rPr lang="en" sz="1200">
                <a:solidFill>
                  <a:srgbClr val="202124"/>
                </a:solidFill>
                <a:highlight>
                  <a:srgbClr val="FFFFFF"/>
                </a:highlight>
              </a:rPr>
              <a:t>to gather people working on affine topics from different points of view. </a:t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02124"/>
                </a:solidFill>
                <a:highlight>
                  <a:srgbClr val="FFFFFF"/>
                </a:highlight>
              </a:rPr>
              <a:t>Our project will permit us to assess the properties of sources visible to LISA and establish a common framework to untangle Galactic sources with a dynamical origin once LISA will be operational. </a:t>
            </a:r>
            <a:endParaRPr sz="12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00" y="1180925"/>
            <a:ext cx="2671300" cy="379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/>
        </p:nvSpPr>
        <p:spPr>
          <a:xfrm>
            <a:off x="3588925" y="3821875"/>
            <a:ext cx="50742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Once we established a </a:t>
            </a: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common framework 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we can use LISA to </a:t>
            </a: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unravel 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complex phenomenon taking place in the universe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.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Timeline and deliverables</a:t>
            </a:r>
            <a:endParaRPr b="1"/>
          </a:p>
        </p:txBody>
      </p:sp>
      <p:graphicFrame>
        <p:nvGraphicFramePr>
          <p:cNvPr id="110" name="Google Shape;110;p19"/>
          <p:cNvGraphicFramePr/>
          <p:nvPr/>
        </p:nvGraphicFramePr>
        <p:xfrm>
          <a:off x="637450" y="14991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{B97D7640-15E8-49A4-AF1C-6FB6661587E9}</a:tableStyleId>
              </a:tblPr>
              <a:tblGrid>
                <a:gridCol w="1464150"/>
                <a:gridCol w="6314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February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List of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 members defined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April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ata acquired and shared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September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Defined the way to normalise the data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December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Convolved data with Milky Way and Local Volume models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1" name="Google Shape;111;p19"/>
          <p:cNvSpPr txBox="1"/>
          <p:nvPr/>
        </p:nvSpPr>
        <p:spPr>
          <a:xfrm>
            <a:off x="512875" y="1025771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Timeline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508471" y="3119815"/>
            <a:ext cx="82617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Deliverables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Relevant raw outputs of numerical simulations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Common catalogue(s) of sources 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Data analysis tool and pipeline used to combine the numerical models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Identify the peculiarities of dynamical sources for identification in future observations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Competences and size of the contributors’ group</a:t>
            </a:r>
            <a:endParaRPr b="1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Expertise needed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i="1" lang="en" sz="1200">
                <a:solidFill>
                  <a:schemeClr val="dk1"/>
                </a:solidFill>
                <a:highlight>
                  <a:srgbClr val="FFFFFF"/>
                </a:highlight>
              </a:rPr>
              <a:t>N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-body, Monte Carlo, or semi-analytic modelling of star clusters and their compact object populations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Milky Way modelling and star cluster formation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Stellar evolution of single and binary stars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Data analysis and signal modelling for LISA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Facilities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Access to public numerical simulations of star clusters or Milky Way-like galaxies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Access to HPC resources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Size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A compact and active group of 10ish people (as compact as the sources and dynamically active as star clusters)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Interactions with other Consortium WGs</a:t>
            </a:r>
            <a:endParaRPr b="1"/>
          </a:p>
        </p:txBody>
      </p:sp>
      <p:sp>
        <p:nvSpPr>
          <p:cNvPr id="126" name="Google Shape;126;p21"/>
          <p:cNvSpPr txBox="1"/>
          <p:nvPr/>
        </p:nvSpPr>
        <p:spPr>
          <a:xfrm>
            <a:off x="438150" y="1303350"/>
            <a:ext cx="8267700" cy="28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LISA UCB Catalogue Project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Lisa triples and CBPs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Comparing UCB catalogues for LISA with existing observations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Waveform parameter space for astrophysical sources?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Data standard for catalogs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/>
        </p:nvSpPr>
        <p:spPr>
          <a:xfrm>
            <a:off x="461388" y="562892"/>
            <a:ext cx="84648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We want to:</a:t>
            </a:r>
            <a:endParaRPr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02124"/>
              </a:buClr>
              <a:buSzPts val="1200"/>
              <a:buChar char="●"/>
            </a:pP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C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haracterize </a:t>
            </a: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which systems 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are formed in </a:t>
            </a: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dynamically active 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environments: </a:t>
            </a: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define a standard for LISA</a:t>
            </a:r>
            <a:endParaRPr b="1" sz="1200">
              <a:solidFill>
                <a:srgbClr val="202124"/>
              </a:solidFill>
              <a:highlight>
                <a:schemeClr val="lt1"/>
              </a:highlight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200"/>
              <a:buChar char="●"/>
            </a:pP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Convolve </a:t>
            </a:r>
            <a:r>
              <a:rPr lang="en" sz="1200">
                <a:solidFill>
                  <a:srgbClr val="202124"/>
                </a:solidFill>
                <a:highlight>
                  <a:schemeClr val="lt1"/>
                </a:highlight>
              </a:rPr>
              <a:t>this standard with our understanding of the </a:t>
            </a:r>
            <a:r>
              <a:rPr b="1" lang="en" sz="1200">
                <a:solidFill>
                  <a:srgbClr val="202124"/>
                </a:solidFill>
                <a:highlight>
                  <a:schemeClr val="lt1"/>
                </a:highlight>
              </a:rPr>
              <a:t>local cosmic volume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11533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Conclusions</a:t>
            </a:r>
            <a:endParaRPr b="1"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400" y="1752125"/>
            <a:ext cx="3400773" cy="2455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339588" y="4080800"/>
            <a:ext cx="84648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Write to us at </a:t>
            </a:r>
            <a:r>
              <a:rPr lang="en" sz="1800" u="sng">
                <a:solidFill>
                  <a:schemeClr val="accent5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astro-wg-2025-07@lisamission.org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join fill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this form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8050" y="2458087"/>
            <a:ext cx="1326075" cy="132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